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6858000" cx="12192000"/>
  <p:notesSz cx="6858000" cy="9144000"/>
  <p:embeddedFontLst>
    <p:embeddedFont>
      <p:font typeface="Oswald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j6EiBixDR4MgwKfLt5rn6QvtxE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font" Target="fonts/Oswald-bold.fntdata"/><Relationship Id="rId41" Type="http://schemas.openxmlformats.org/officeDocument/2006/relationships/font" Target="fonts/Oswald-regular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customschemas.google.com/relationships/presentationmetadata" Target="meta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accdc736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accdc73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ccdc736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accdc736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accdc736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accdc736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ccdc736b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accdc736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ccdc736b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accdc736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accdc736b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accdc736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accdc736b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accdc736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accdc736b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accdc736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accdc736b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accdc736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accdc736b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accdc736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ccdc736b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accdc736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accdc736b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accdc736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accdc736b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accdc736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adb678919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adb67891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adb678919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adb67891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adb678919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adb678919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adb678919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adb678919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2914943"/>
            <a:ext cx="91440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E-Commerce Sales Tableau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. KPI Executive Overview"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0"/>
            <a:ext cx="85725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. Monthly Revenue Trend with Moving Average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9900"/>
            <a:ext cx="12192001" cy="597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accdc736b_0_0"/>
          <p:cNvSpPr txBox="1"/>
          <p:nvPr/>
        </p:nvSpPr>
        <p:spPr>
          <a:xfrm>
            <a:off x="94375" y="503950"/>
            <a:ext cx="11965500" cy="5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Stable Core Revenue: 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Maintained a steady monthly revenue baseline averaging ~₹1,060M (₹106 Cr) between Dec 2023 and Aug 2026.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Top Sales Month: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Reached peak performance in September 2024 (₹1,100M/₹110 Cr), driven by strong end-of-Q3 sales.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Low Trend Volatility: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The 3-month moving average confirms 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consistent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recurring demand with minimal quarter-over-quarter fluctuation.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Active Month Partial Data: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September 2026 reflects in-progress data collection, accounting for the lower visible bar.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. Category Revenue Breakdown"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015" y="0"/>
            <a:ext cx="1004797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accdc736b_0_6"/>
          <p:cNvSpPr txBox="1"/>
          <p:nvPr/>
        </p:nvSpPr>
        <p:spPr>
          <a:xfrm>
            <a:off x="134400" y="204300"/>
            <a:ext cx="11923200" cy="6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Heavy Revenue Concentration: 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Electronics commands the overwhelming majority of total business revenue at ₹2,516.8 Cr (₹25,16,83,65,850).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Top 3 Core Revenue Pillars: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Electronics, Furniture (₹287.7 Cr), and Home Appliances (₹160.7 Cr) collectively form the core financial engine of the business.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Long-Tail Optimization: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Clothing, Footwear, and Home &amp; Living generate steady mid-tier returns, while Books, Kitchen,  and Accessories present opportunities for cross-selling expansion.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Total Ecosystem Sales: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Overall sales revenue across all categories stand at ₹3,328.5 Cr (₹33,28,49,21,501).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. Revenue Growth Rate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7664"/>
            <a:ext cx="12192000" cy="670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accdc736b_0_12"/>
          <p:cNvSpPr txBox="1"/>
          <p:nvPr/>
        </p:nvSpPr>
        <p:spPr>
          <a:xfrm>
            <a:off x="0" y="204300"/>
            <a:ext cx="11942400" cy="6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Peak Growth Performance: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Achieved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maximum MoM revenue expansion in February 2025 (+9.08%) and February 2026 (+8.39%).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Steady Volatility Range: 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Baseline month-over-month growth fluctuates within a healthy, predictable band of -4.75% to +4.68%.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Seasonal Recovers: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Sharp pullbacks (such as -9.03% in early 2025) are consistently followed by immediate, high-volume growth rebounds.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Active Month Partial Reporting: 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August 2026 reflects -48.34% due to in-progress data collection for the current cycle.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&amp;amp; Finance Metrics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525" y="0"/>
            <a:ext cx="96114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ccdc736b_0_18"/>
          <p:cNvSpPr txBox="1"/>
          <p:nvPr/>
        </p:nvSpPr>
        <p:spPr>
          <a:xfrm>
            <a:off x="115200" y="137100"/>
            <a:ext cx="119424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b="1"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Robust Financial Baseline: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Achieved total revenue of ₹3,328.5 Cr, driven by steady 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monthly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revenue averaging ~₹106 Cr between Dec 2023 and Aug 2026.</a:t>
            </a:r>
            <a:endParaRPr sz="3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b="1"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Electronics-Driven Portfolio: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Electronics leads overall performance at ₹2,516.8 Cr, with Furniture and Home Appliances forming the remaining core revenue pillars.</a:t>
            </a:r>
            <a:endParaRPr sz="3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b="1"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Q2 Expansion &amp; Peak Sales: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Record monthly sales reached ₹110 Cr in Aug 2024, with March consistently generating top MoM growth rates (+9.08% in 2025, +8.39% in 2026).</a:t>
            </a:r>
            <a:endParaRPr sz="3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b="1"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Predictable MoM Growth: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Baseline month-over-month revenue performance fluctuates safely between -4.75% and +4.68%, demonstrating high stability.</a:t>
            </a:r>
            <a:endParaRPr sz="3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. Top &amp;amp; Bottom 10 Products by Revenue"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8075" y="0"/>
            <a:ext cx="97547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accdc736b_0_24"/>
          <p:cNvSpPr txBox="1"/>
          <p:nvPr/>
        </p:nvSpPr>
        <p:spPr>
          <a:xfrm>
            <a:off x="115200" y="115200"/>
            <a:ext cx="119616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Dominant Flagship Item: 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Laptop leads all product sales at ₹1,069.6 Cr, generating more revenue than the bottom 10 products combined.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Tech-Centric Revenue Top 4: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High-ticket consumer electronics (Laptops, Smartphones, Tablets, Smart Watches) drive the vast majority of catalog sales revenue.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Lowest Revenue Tier: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Books represents the lowest-grossing product at ₹11.1 Cr, followed by low-ticket apparel and accessories like Wallets (₹17.4 Cr) and T-shirts (₹18.1 Cr).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Catalog Rebalancing Opportunity: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Low-revenue items like Books, Wallets, and T-shirts require targeted bundled promotions or pricing adjustments to boost basket size.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. Quantity Sold vs. Sales Revenue Matrix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283" y="0"/>
            <a:ext cx="1164943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accdc736b_0_30"/>
          <p:cNvSpPr txBox="1"/>
          <p:nvPr/>
        </p:nvSpPr>
        <p:spPr>
          <a:xfrm>
            <a:off x="96000" y="96000"/>
            <a:ext cx="11961600" cy="6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Uniform Demand Distribution: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All 20+ products maintain tight unit volume consistency between ~1.64L and 1.66L units sold.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Revenue Driven by Pricing Strategy: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Laptop leads revenue at ₹1,069.6 Cr, generating over 96x more sales value than Books (₹11.1 Cr) despite nearly equal unit movement.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High-Volume, Low-Margin Products: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Books, Wallets, and T-shirts absorb high logistical handling (1.65L+ units each) while contributing less than ₹20 Cr each to total revenue.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Strategic Optimization: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Focus on upselling and bundling low-ticket items (Books/Apparel) with high-ticket electronics (Laptops/Smartphones) to maximize average order value.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. Product Price Distribution"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7775"/>
            <a:ext cx="12191998" cy="61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accdc736b_0_36"/>
          <p:cNvSpPr txBox="1"/>
          <p:nvPr/>
        </p:nvSpPr>
        <p:spPr>
          <a:xfrm>
            <a:off x="230400" y="115200"/>
            <a:ext cx="11865600" cy="6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Low-Ticket Inventory Dominance: 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product portfolio is concentrated in entry-level pricing, with the &lt;₹1K price band leading at 14 distinct products.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Rapid Catalog Tapering: 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Over 60% of distinct catalog products are priced below ₹10K, showing steep decline as price points increase.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Stable Mid-Tier Pricing: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Product variety plateaus evenly between ₹16K and ₹45K with 2-3 products per price bin.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Sparse Premium Tier: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High-ticket products above ₹75K are ultra-focused, consisting of only 1 flagship product per price bin (driving high revenue despite low price variety).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. Category Volume vs. Revenue Split"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6600"/>
            <a:ext cx="12192000" cy="625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ccdc736b_0_42"/>
          <p:cNvSpPr txBox="1"/>
          <p:nvPr/>
        </p:nvSpPr>
        <p:spPr>
          <a:xfrm>
            <a:off x="96000" y="115200"/>
            <a:ext cx="120000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Electronics Dominates Scale: 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Leads both volume and value, contributing 8.27 Lakh units sold and ₹2,516.8 Cr in total sales revenue.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High</a:t>
            </a: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Volume vs. Low Monetization: 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Clothing achieves the second highest volume (4.94 lakh units), but lower pricing yields just ₹103.7 Cr in total revenue.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Consistent Volume Plateau: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Five core categories (Footwear, Furniture, Home Appliances, Home &amp; Living, Accessories) each maintain steady volume around ~3.3 Lakh units.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High Unit-Value Return: 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Furniture generates ₹287.7 Cr on 3.28 Lakh units, making it the second most lucrative revenue generator despite moderates sales volume.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duct &amp;amp; Inventory Performance" id="174" name="Google Shape;1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6875" y="0"/>
            <a:ext cx="97854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accdc736b_0_49"/>
          <p:cNvSpPr txBox="1"/>
          <p:nvPr/>
        </p:nvSpPr>
        <p:spPr>
          <a:xfrm>
            <a:off x="105600" y="373650"/>
            <a:ext cx="11980800" cy="6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b="1"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Entry-Level Product Concentration: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Catalog variety is heavily concentrated in low-ticket items, led by 14 distinct products under ₹1,000 and over 60% of items under ₹10,000.</a:t>
            </a:r>
            <a:endParaRPr sz="3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b="1"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Electrons Drives Strategic Value: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High-ticket inventory (₹46K-₹85K+) maintains low product variety (1-2 products per bin) but powers Electronics to lead overall performance at ₹2,516.8 Cr.</a:t>
            </a:r>
            <a:endParaRPr sz="3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b="1"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Volume vs. Revenue Mismatch: 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Fast-moving consumer categories like Clothing (4.94L units) generate substantial order volume but lower revenue (₹103.7 Cr) due to low-bin price concentration.4</a:t>
            </a:r>
            <a:endParaRPr sz="3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b="1"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Balanced Mid-Tier Margin Strategy: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Categories priced within the ₹16K-₹45K mid-tier plateau deliver optimal revenue per unit sold.</a:t>
            </a:r>
            <a:endParaRPr sz="3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. Sales Distribution Map by City" id="184" name="Google Shape;1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802" y="0"/>
            <a:ext cx="112243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accdc736b_0_56"/>
          <p:cNvSpPr txBox="1"/>
          <p:nvPr/>
        </p:nvSpPr>
        <p:spPr>
          <a:xfrm>
            <a:off x="115200" y="96000"/>
            <a:ext cx="11980800" cy="5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Uniform Geographical Performance: 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Sales revenue across all target cities stays tightly grouped between ₹162.6 Cr and ₹170.1 Cr.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Consistent Demand Across Cities: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Distinct order counts per city remain virtually even, spanning 54.6K to 55.2K orders per region.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Balanced Pan-India Footprint: 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Revenue generation is well distributed across Northern, Western, Southern, and Eastern urban clusters without over-reliance on a single metropolitan market.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Logistics &amp; Inventory Efficiency: 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Equal volume movement across cities allows for standardized regional warehouse stocking and fulfillment planning. 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. Top Cities Revenue Breakdown Stacked Bar" id="194" name="Google Shape;1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9261"/>
            <a:ext cx="12192000" cy="649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accdc736b_0_62"/>
          <p:cNvSpPr txBox="1"/>
          <p:nvPr/>
        </p:nvSpPr>
        <p:spPr>
          <a:xfrm>
            <a:off x="96000" y="134400"/>
            <a:ext cx="119808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●"/>
            </a:pPr>
            <a:r>
              <a:rPr b="1" lang="en-US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Uniform Revenue Distribution: </a:t>
            </a:r>
            <a:r>
              <a:rPr lang="en-US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Top 10 cities deliver virtually identical total revenue, led by Kochi at ₹129.9 Cr and bounded by Chennai at ₹126.0 Cr.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●"/>
            </a:pPr>
            <a:r>
              <a:rPr b="1" lang="en-US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Electronics Overwhelmingly Leads:</a:t>
            </a:r>
            <a:r>
              <a:rPr lang="en-US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Electronics accounts for over 75% of total city revenue across all top markets, driving ~₹1,250 Cr+ per city.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●"/>
            </a:pPr>
            <a:r>
              <a:rPr b="1" lang="en-US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Equally Performing Metro &amp; Tier-2 Markets:</a:t>
            </a:r>
            <a:r>
              <a:rPr lang="en-US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Non-metro </a:t>
            </a:r>
            <a:r>
              <a:rPr lang="en-US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regional</a:t>
            </a:r>
            <a:r>
              <a:rPr lang="en-US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centers (Kochi, Bhopal, Lucknow, Surat, Rajkot) generate equal or higher revenue compared to major metros (Mumbai, Hyderabad, Chennai).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●"/>
            </a:pPr>
            <a:r>
              <a:rPr b="1" lang="en-US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Consistent Cross-Category Demand:</a:t>
            </a:r>
            <a:r>
              <a:rPr lang="en-US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Non-electronic categories exhibit an identical category split in every city, proving that customer demand patterns are uniform across geographic markets.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. Average Spend per Order by City" id="204" name="Google Shape;2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9435"/>
            <a:ext cx="12192000" cy="6479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accdc736b_0_68"/>
          <p:cNvSpPr txBox="1"/>
          <p:nvPr/>
        </p:nvSpPr>
        <p:spPr>
          <a:xfrm>
            <a:off x="96000" y="134400"/>
            <a:ext cx="119808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b="1"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High Uniformity in  Order Value: 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Average order spend per city stays extraordinarily flat across India, holding tightly between ₹29.5K and ₹30.8K.</a:t>
            </a:r>
            <a:endParaRPr sz="3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b="1"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Tier-2 Markets Outpace Major Metros in AOV: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Kochi (₹30,798), Bhopal (₹30,584), and Lucknow (₹30,571) outrank key metro hubs like Delhi, Bengaluru, and Hyderabad in average ticket size.</a:t>
            </a:r>
            <a:endParaRPr sz="3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b="1"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Nationwide Revenue Consistency: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Purchasing power per transaction remains uniform regardless of region, city tier, or geographical cluster.</a:t>
            </a:r>
            <a:endParaRPr sz="3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b="1"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Standardized Pricing &amp; Promotional Strategy: 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Consistent AOV across all 20 cities allows for uniform pricing, bundling, and minimum order 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threshold</a:t>
            </a:r>
            <a:r>
              <a:rPr lang="en-US" sz="3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policies across the entire network.</a:t>
            </a:r>
            <a:endParaRPr sz="3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gional Insights" id="214" name="Google Shape;2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500" y="0"/>
            <a:ext cx="107169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accdc736b_0_74"/>
          <p:cNvSpPr txBox="1"/>
          <p:nvPr/>
        </p:nvSpPr>
        <p:spPr>
          <a:xfrm>
            <a:off x="115200" y="115200"/>
            <a:ext cx="11980800" cy="6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Char char="●"/>
            </a:pPr>
            <a:r>
              <a:rPr b="1" lang="en-US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High Geographical Market Consistency:</a:t>
            </a:r>
            <a:r>
              <a:rPr lang="en-US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Top city sales range tightly between ₹126.0 Cr  (Chennai) and ₹129.9 Cr (Kochi), while Average Order Value (AOV) spans ₹29.5K to ₹30.8K nationwide.</a:t>
            </a:r>
            <a:endParaRPr sz="3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Char char="●"/>
            </a:pPr>
            <a:r>
              <a:rPr b="1" lang="en-US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Tier-2 Urban Hubs Lead Performance: </a:t>
            </a:r>
            <a:r>
              <a:rPr lang="en-US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Non-metro markets like Kochi (₹30,799 AOV), Bhopal (₹30,584 AOV), and Lucknow (₹30,571 AOV) match or exceed top metros (Mumbai, Delhi, Bengaluru) in spend per transaction.</a:t>
            </a:r>
            <a:endParaRPr sz="3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Char char="●"/>
            </a:pPr>
            <a:r>
              <a:rPr b="1" lang="en-US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Electronics Powered Growth: </a:t>
            </a:r>
            <a:r>
              <a:rPr lang="en-US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Electronics generates over 75% of total city </a:t>
            </a:r>
            <a:r>
              <a:rPr lang="en-US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revenue</a:t>
            </a:r>
            <a:r>
              <a:rPr lang="en-US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across top </a:t>
            </a:r>
            <a:r>
              <a:rPr lang="en-US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markets</a:t>
            </a:r>
            <a:r>
              <a:rPr lang="en-US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, driving over ₹1,250 Cr per city.</a:t>
            </a:r>
            <a:endParaRPr sz="3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Char char="●"/>
            </a:pPr>
            <a:r>
              <a:rPr b="1" lang="en-US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Standardized Pricing &amp; Supply Chain Operations: </a:t>
            </a:r>
            <a:r>
              <a:rPr lang="en-US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Uniform purchasing behavior across all regions allows for nationwide fulfillment strategies, centralized inventory planning, and standardized promotional pricing.</a:t>
            </a:r>
            <a:endParaRPr sz="3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2. Order Size Distribution" id="224" name="Google Shape;2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0100" y="0"/>
            <a:ext cx="8608325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adb678919_1_1"/>
          <p:cNvSpPr txBox="1"/>
          <p:nvPr/>
        </p:nvSpPr>
        <p:spPr>
          <a:xfrm>
            <a:off x="115200" y="134400"/>
            <a:ext cx="119616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Near-Equal Order Volume Across Basket Sizes: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Total order count is evenly distributed across 1 to 5 items per order, holding steadily at ~2.2 Lakh orders per bin.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Peak Demand at 3 Items per Order: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Orders containing 3 items form the largest individual volume bin at 2,20,727 distinct orders.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Strong Standalone &amp; Multi-Item Demand: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Single-item purchases (2,20,007 orders) match 4-item 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purchases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(2,20,077 orders) nearly 1:1 in total volume.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Consistent Packaging &amp; Fulfillment Load: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Low variance across order sizes (~0.5% 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difference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between top and bottom bins) supports standardized warehouse packing processes and predictable shipping materials management.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3. Pareto Analysis Chart" id="234" name="Google Shape;2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5640"/>
            <a:ext cx="12192000" cy="674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adb678919_1_7"/>
          <p:cNvSpPr txBox="1"/>
          <p:nvPr/>
        </p:nvSpPr>
        <p:spPr>
          <a:xfrm>
            <a:off x="96000" y="96000"/>
            <a:ext cx="120000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Electronics Drives The Core Business: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Electronics alone accounts for 75.61% of total cumulative sale revenue, exceeding ₹25B (₹2,500 Cr+).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80/20 Revenue Concentration: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The top two categories–Electronics and Furniture–combine to generate 84.26% of overall revenue.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Top 3 Categories Reach ~90% Share: 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Adding Home Appliances brings total cumulative revenue contribution to 89.09%.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b="1"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Strategic Focus Area: </a:t>
            </a: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Resource allocation, inventory investment, and marketing strategies should remain heavily focused on Electronics, Furniture, and Home Appliances to protect ~90% of business revenue.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4. Daily Sales Volatility Scatter Plot" id="244" name="Google Shape;2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8133"/>
            <a:ext cx="12192000" cy="670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adb678919_1_13"/>
          <p:cNvSpPr txBox="1"/>
          <p:nvPr/>
        </p:nvSpPr>
        <p:spPr>
          <a:xfrm>
            <a:off x="115200" y="96000"/>
            <a:ext cx="11980800" cy="6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Linear Volume-to-Revenue Growth: 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Daily sales 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revenue increases predictably alongside daily order counts, following a strong positive trend line.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Tight Daily Volume Clustering: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Standard business operations consistently process between 1,080 and 1,220 orders per day.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Widely Revenue Spread per Volume Tier: 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Daily sales revenue varies between ₹2.8 Cr and ₹4.2 Cr at equal order volumes, driven by variation in basket composition and high-ticket item sales.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b="1"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Peak Revenue Multipliers:</a:t>
            </a:r>
            <a:r>
              <a:rPr lang="en-US" sz="3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Exceptional sales days peak above ₹4.2 Cr in daily revenue, demonstrating high upside potential on high-ticket sales days.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rchasing Behavior &amp;amp; Order Analysis" id="254" name="Google Shape;2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125" y="0"/>
            <a:ext cx="116381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D4D4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adb678919_1_19"/>
          <p:cNvSpPr txBox="1"/>
          <p:nvPr/>
        </p:nvSpPr>
        <p:spPr>
          <a:xfrm>
            <a:off x="96000" y="96000"/>
            <a:ext cx="11961600" cy="6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Char char="●"/>
            </a:pPr>
            <a:r>
              <a:rPr b="1" lang="en-US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Standardized Customer Order Volumes:</a:t>
            </a:r>
            <a:r>
              <a:rPr lang="en-US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Total order distribution spans tightly between 2.19 Lakh and 2.20 Lakh orders across all 1-to-5 item basket bins, peaking at 3 items per order (2,20,27 orders).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Char char="●"/>
            </a:pPr>
            <a:r>
              <a:rPr b="1" lang="en-US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Core revenue Anchored by Electronics: </a:t>
            </a:r>
            <a:r>
              <a:rPr lang="en-US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Electronics accounts for 75.61% of cumulative sales revenue (&gt;₹25 Billion / ₹2,500 Cr+), while the top 3 categories (Electronics, Furniture, and Home Appliances) combine for 89.09% of total revenue.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Char char="●"/>
            </a:pPr>
            <a:r>
              <a:rPr b="1" lang="en-US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Linear Daily Revenue Trajectory:</a:t>
            </a:r>
            <a:r>
              <a:rPr lang="en-US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Daily sales revenue correlates directly with order count along a strong positive trend line, with regular business operations processing 1,080 to 1,220 orders per day.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Char char="●"/>
            </a:pPr>
            <a:r>
              <a:rPr b="1" lang="en-US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Daily Basket Mix Drives Revenue Spikes: </a:t>
            </a:r>
            <a:r>
              <a:rPr lang="en-US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Daily revenue fluctuates by up to ₹1.4 Cr at constant daily order volumes, demonstrating that high-ticket item sales (Electronics) are the primary engine for peak revenue days (₹4.2 Cr+).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2026-08-23T14:45:55Z</dcterms:created>
</cp:coreProperties>
</file>